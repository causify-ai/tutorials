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HK Grotesk Light" charset="1" panose="00000400000000000000"/>
      <p:regular r:id="rId18"/>
    </p:embeddedFont>
    <p:embeddedFont>
      <p:font typeface="Carollo Playscript" charset="1" panose="00000000000000000000"/>
      <p:regular r:id="rId19"/>
    </p:embeddedFont>
    <p:embeddedFont>
      <p:font typeface="HK Grotesk Bold" charset="1" panose="00000800000000000000"/>
      <p:regular r:id="rId20"/>
    </p:embeddedFont>
    <p:embeddedFont>
      <p:font typeface="HK Grotesk Italics" charset="1" panose="00000500000000000000"/>
      <p:regular r:id="rId21"/>
    </p:embeddedFont>
    <p:embeddedFont>
      <p:font typeface="Carollo Playscript Bold" charset="1" panose="00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4.png" Type="http://schemas.openxmlformats.org/officeDocument/2006/relationships/image"/><Relationship Id="rId5" Target="../media/image1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0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763614" cy="10287000"/>
            <a:chOff x="0" y="0"/>
            <a:chExt cx="178136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81363" cy="2709333"/>
            </a:xfrm>
            <a:custGeom>
              <a:avLst/>
              <a:gdLst/>
              <a:ahLst/>
              <a:cxnLst/>
              <a:rect r="r" b="b" t="t" l="l"/>
              <a:pathLst>
                <a:path h="2709333" w="1781363">
                  <a:moveTo>
                    <a:pt x="0" y="0"/>
                  </a:moveTo>
                  <a:lnTo>
                    <a:pt x="1781363" y="0"/>
                  </a:lnTo>
                  <a:lnTo>
                    <a:pt x="178136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F2C4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78136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913096" y="0"/>
            <a:ext cx="374904" cy="10287000"/>
            <a:chOff x="0" y="0"/>
            <a:chExt cx="98740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8740" cy="2709333"/>
            </a:xfrm>
            <a:custGeom>
              <a:avLst/>
              <a:gdLst/>
              <a:ahLst/>
              <a:cxnLst/>
              <a:rect r="r" b="b" t="t" l="l"/>
              <a:pathLst>
                <a:path h="2709333" w="98740">
                  <a:moveTo>
                    <a:pt x="0" y="0"/>
                  </a:moveTo>
                  <a:lnTo>
                    <a:pt x="98740" y="0"/>
                  </a:lnTo>
                  <a:lnTo>
                    <a:pt x="9874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F03B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98740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29001" y="397600"/>
            <a:ext cx="5988042" cy="9485749"/>
            <a:chOff x="0" y="0"/>
            <a:chExt cx="7984056" cy="12647665"/>
          </a:xfrm>
        </p:grpSpPr>
        <p:sp>
          <p:nvSpPr>
            <p:cNvPr name="Freeform 9" id="9"/>
            <p:cNvSpPr/>
            <p:nvPr/>
          </p:nvSpPr>
          <p:spPr>
            <a:xfrm flipH="true" flipV="false" rot="0">
              <a:off x="0" y="0"/>
              <a:ext cx="7984056" cy="4093643"/>
            </a:xfrm>
            <a:custGeom>
              <a:avLst/>
              <a:gdLst/>
              <a:ahLst/>
              <a:cxnLst/>
              <a:rect r="r" b="b" t="t" l="l"/>
              <a:pathLst>
                <a:path h="4093643" w="7984056">
                  <a:moveTo>
                    <a:pt x="7984056" y="0"/>
                  </a:moveTo>
                  <a:lnTo>
                    <a:pt x="0" y="0"/>
                  </a:lnTo>
                  <a:lnTo>
                    <a:pt x="0" y="4093643"/>
                  </a:lnTo>
                  <a:lnTo>
                    <a:pt x="7984056" y="4093643"/>
                  </a:lnTo>
                  <a:lnTo>
                    <a:pt x="7984056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true" flipV="false" rot="0">
              <a:off x="0" y="8554022"/>
              <a:ext cx="7984056" cy="4093643"/>
            </a:xfrm>
            <a:custGeom>
              <a:avLst/>
              <a:gdLst/>
              <a:ahLst/>
              <a:cxnLst/>
              <a:rect r="r" b="b" t="t" l="l"/>
              <a:pathLst>
                <a:path h="4093643" w="7984056">
                  <a:moveTo>
                    <a:pt x="7984056" y="0"/>
                  </a:moveTo>
                  <a:lnTo>
                    <a:pt x="0" y="0"/>
                  </a:lnTo>
                  <a:lnTo>
                    <a:pt x="0" y="4093643"/>
                  </a:lnTo>
                  <a:lnTo>
                    <a:pt x="7984056" y="4093643"/>
                  </a:lnTo>
                  <a:lnTo>
                    <a:pt x="7984056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true" flipV="false" rot="0">
              <a:off x="0" y="4277011"/>
              <a:ext cx="7984056" cy="4093643"/>
            </a:xfrm>
            <a:custGeom>
              <a:avLst/>
              <a:gdLst/>
              <a:ahLst/>
              <a:cxnLst/>
              <a:rect r="r" b="b" t="t" l="l"/>
              <a:pathLst>
                <a:path h="4093643" w="7984056">
                  <a:moveTo>
                    <a:pt x="7984056" y="0"/>
                  </a:moveTo>
                  <a:lnTo>
                    <a:pt x="0" y="0"/>
                  </a:lnTo>
                  <a:lnTo>
                    <a:pt x="0" y="4093643"/>
                  </a:lnTo>
                  <a:lnTo>
                    <a:pt x="7984056" y="4093643"/>
                  </a:lnTo>
                  <a:lnTo>
                    <a:pt x="7984056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705463" y="1028700"/>
            <a:ext cx="6813985" cy="6459980"/>
            <a:chOff x="0" y="0"/>
            <a:chExt cx="9085313" cy="861330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6669783"/>
              <a:ext cx="9085313" cy="19435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8" indent="-302259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FEFBF8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K</a:t>
              </a:r>
              <a:r>
                <a:rPr lang="en-US" sz="2799">
                  <a:solidFill>
                    <a:srgbClr val="FEFBF8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arthik Vakada</a:t>
              </a:r>
            </a:p>
            <a:p>
              <a:pPr algn="l" marL="604518" indent="-302259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FEFBF8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DATA605 – Final Project</a:t>
              </a:r>
            </a:p>
            <a:p>
              <a:pPr algn="l" marL="604518" indent="-302259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FEFBF8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Spring 2025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57150"/>
              <a:ext cx="9085313" cy="60041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260"/>
                </a:lnSpc>
              </a:pPr>
              <a:r>
                <a:rPr lang="en-US" sz="6600">
                  <a:solidFill>
                    <a:srgbClr val="FEFBF8"/>
                  </a:solidFill>
                  <a:latin typeface="Carollo Playscript"/>
                  <a:ea typeface="Carollo Playscript"/>
                  <a:cs typeface="Carollo Playscript"/>
                  <a:sym typeface="Carollo Playscript"/>
                </a:rPr>
                <a:t>Time Series Analysis of Bitcoin Prices Using s3fs</a:t>
              </a:r>
            </a:p>
            <a:p>
              <a:pPr algn="l" marL="0" indent="0" lvl="0">
                <a:lnSpc>
                  <a:spcPts val="638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6126407" y="9648398"/>
            <a:ext cx="1553052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EFBF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MAY 2025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507141" y="8161324"/>
            <a:ext cx="7172319" cy="240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i="true">
                <a:solidFill>
                  <a:srgbClr val="FEFBF8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REAL-TIME ANALYSIS AND FORECASTING OF BITCOIN PRICES WITH S3 AND PYTHON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0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1524386" y="0"/>
            <a:ext cx="6763614" cy="10287000"/>
          </a:xfrm>
          <a:prstGeom prst="rect">
            <a:avLst/>
          </a:prstGeom>
          <a:solidFill>
            <a:srgbClr val="AF2C4C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11953387" y="397600"/>
            <a:ext cx="5988042" cy="9485749"/>
            <a:chOff x="0" y="0"/>
            <a:chExt cx="7984056" cy="12647665"/>
          </a:xfrm>
        </p:grpSpPr>
        <p:sp>
          <p:nvSpPr>
            <p:cNvPr name="Freeform 4" id="4"/>
            <p:cNvSpPr/>
            <p:nvPr/>
          </p:nvSpPr>
          <p:spPr>
            <a:xfrm flipH="true" flipV="false" rot="0">
              <a:off x="0" y="0"/>
              <a:ext cx="7984056" cy="4093643"/>
            </a:xfrm>
            <a:custGeom>
              <a:avLst/>
              <a:gdLst/>
              <a:ahLst/>
              <a:cxnLst/>
              <a:rect r="r" b="b" t="t" l="l"/>
              <a:pathLst>
                <a:path h="4093643" w="7984056">
                  <a:moveTo>
                    <a:pt x="7984056" y="0"/>
                  </a:moveTo>
                  <a:lnTo>
                    <a:pt x="0" y="0"/>
                  </a:lnTo>
                  <a:lnTo>
                    <a:pt x="0" y="4093643"/>
                  </a:lnTo>
                  <a:lnTo>
                    <a:pt x="7984056" y="4093643"/>
                  </a:lnTo>
                  <a:lnTo>
                    <a:pt x="7984056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0">
              <a:off x="0" y="8554022"/>
              <a:ext cx="7984056" cy="4093643"/>
            </a:xfrm>
            <a:custGeom>
              <a:avLst/>
              <a:gdLst/>
              <a:ahLst/>
              <a:cxnLst/>
              <a:rect r="r" b="b" t="t" l="l"/>
              <a:pathLst>
                <a:path h="4093643" w="7984056">
                  <a:moveTo>
                    <a:pt x="7984056" y="0"/>
                  </a:moveTo>
                  <a:lnTo>
                    <a:pt x="0" y="0"/>
                  </a:lnTo>
                  <a:lnTo>
                    <a:pt x="0" y="4093643"/>
                  </a:lnTo>
                  <a:lnTo>
                    <a:pt x="7984056" y="4093643"/>
                  </a:lnTo>
                  <a:lnTo>
                    <a:pt x="7984056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0" y="4277011"/>
              <a:ext cx="7984056" cy="4093643"/>
            </a:xfrm>
            <a:custGeom>
              <a:avLst/>
              <a:gdLst/>
              <a:ahLst/>
              <a:cxnLst/>
              <a:rect r="r" b="b" t="t" l="l"/>
              <a:pathLst>
                <a:path h="4093643" w="7984056">
                  <a:moveTo>
                    <a:pt x="7984056" y="0"/>
                  </a:moveTo>
                  <a:lnTo>
                    <a:pt x="0" y="0"/>
                  </a:lnTo>
                  <a:lnTo>
                    <a:pt x="0" y="4093643"/>
                  </a:lnTo>
                  <a:lnTo>
                    <a:pt x="7984056" y="4093643"/>
                  </a:lnTo>
                  <a:lnTo>
                    <a:pt x="7984056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1085850"/>
            <a:ext cx="12697929" cy="1795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40"/>
              </a:lnSpc>
              <a:spcBef>
                <a:spcPct val="0"/>
              </a:spcBef>
            </a:pPr>
            <a:r>
              <a:rPr lang="en-US" sz="6400" strike="noStrike" u="none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M</a:t>
            </a:r>
            <a:r>
              <a:rPr lang="en-US" sz="6400" strike="noStrike" u="none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o</a:t>
            </a:r>
            <a:r>
              <a:rPr lang="en-US" sz="6400" strike="noStrike" u="none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t</a:t>
            </a:r>
            <a:r>
              <a:rPr lang="en-US" sz="6400" strike="noStrike" u="none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iva</a:t>
            </a:r>
            <a:r>
              <a:rPr lang="en-US" sz="6400" strike="noStrike" u="none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t</a:t>
            </a:r>
            <a:r>
              <a:rPr lang="en-US" sz="6400" strike="noStrike" u="none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ion</a:t>
            </a:r>
            <a:r>
              <a:rPr lang="en-US" sz="6400" strike="noStrike" u="none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 </a:t>
            </a:r>
            <a:r>
              <a:rPr lang="en-US" sz="6400" strike="noStrike" u="none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&amp; Obj</a:t>
            </a:r>
            <a:r>
              <a:rPr lang="en-US" sz="6400" strike="noStrike" u="none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e</a:t>
            </a:r>
            <a:r>
              <a:rPr lang="en-US" sz="6400" strike="noStrike" u="none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ctive</a:t>
            </a:r>
          </a:p>
          <a:p>
            <a:pPr algn="l" marL="0" indent="0" lvl="0">
              <a:lnSpc>
                <a:spcPts val="7040"/>
              </a:lnSpc>
              <a:spcBef>
                <a:spcPct val="0"/>
              </a:spcBef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2606104"/>
            <a:ext cx="4394935" cy="8032305"/>
            <a:chOff x="0" y="0"/>
            <a:chExt cx="5859914" cy="10709741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31786" y="-47625"/>
              <a:ext cx="5828127" cy="26377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90095" indent="-245048" lvl="1">
                <a:lnSpc>
                  <a:spcPts val="3178"/>
                </a:lnSpc>
                <a:buFont typeface="Arial"/>
                <a:buChar char="•"/>
              </a:pPr>
              <a:r>
                <a:rPr lang="en-US" b="true" sz="2270">
                  <a:solidFill>
                    <a:srgbClr val="FEFB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B</a:t>
              </a:r>
              <a:r>
                <a:rPr lang="en-US" b="true" sz="2270">
                  <a:solidFill>
                    <a:srgbClr val="FEFB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ITCOIN IS HIGHLY VOLATILE—TRACKING IT HELPS INVESTORS AND ANALYSTS.</a:t>
              </a:r>
            </a:p>
            <a:p>
              <a:pPr algn="l" marL="0" indent="0" lvl="0">
                <a:lnSpc>
                  <a:spcPts val="3178"/>
                </a:lnSpc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31786" y="6762603"/>
              <a:ext cx="5828127" cy="5100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91"/>
                </a:lnSpc>
              </a:pP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31786" y="3922825"/>
              <a:ext cx="5828127" cy="26377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90095" indent="-245048" lvl="1">
                <a:lnSpc>
                  <a:spcPts val="3178"/>
                </a:lnSpc>
                <a:buFont typeface="Arial"/>
                <a:buChar char="•"/>
              </a:pPr>
              <a:r>
                <a:rPr lang="en-US" b="true" sz="2270">
                  <a:solidFill>
                    <a:srgbClr val="FEFB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OBJECT</a:t>
              </a:r>
              <a:r>
                <a:rPr lang="en-US" b="true" sz="2270">
                  <a:solidFill>
                    <a:srgbClr val="FEFB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IVE: ANALYZE AND FORECAST BITCOIN PRICES USING TIME SERIES TECHNIQUES.</a:t>
              </a:r>
            </a:p>
            <a:p>
              <a:pPr algn="l" marL="0" indent="0" lvl="0">
                <a:lnSpc>
                  <a:spcPts val="3178"/>
                </a:lnSpc>
              </a:pP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0199653"/>
              <a:ext cx="5828127" cy="5100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91"/>
                </a:lnSpc>
              </a:pPr>
              <a:r>
                <a:rPr lang="en-US" sz="2279">
                  <a:solidFill>
                    <a:srgbClr val="FEFBF8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Researcher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7893274"/>
              <a:ext cx="5828127" cy="21043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90095" indent="-245048" lvl="1">
                <a:lnSpc>
                  <a:spcPts val="3178"/>
                </a:lnSpc>
                <a:buFont typeface="Arial"/>
                <a:buChar char="•"/>
              </a:pPr>
              <a:r>
                <a:rPr lang="en-US" b="true" sz="2270">
                  <a:solidFill>
                    <a:srgbClr val="FEFB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ALSO BUILD A DASHBO</a:t>
              </a:r>
              <a:r>
                <a:rPr lang="en-US" b="true" sz="2270">
                  <a:solidFill>
                    <a:srgbClr val="FEFB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ARD TO VISUALIZE REAL-TIME INSIGHTS.</a:t>
              </a:r>
            </a:p>
            <a:p>
              <a:pPr algn="l" marL="0" indent="0" lvl="0">
                <a:lnSpc>
                  <a:spcPts val="3178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0" y="0"/>
            <a:ext cx="374904" cy="10287000"/>
            <a:chOff x="0" y="0"/>
            <a:chExt cx="98740" cy="27093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8740" cy="2709333"/>
            </a:xfrm>
            <a:custGeom>
              <a:avLst/>
              <a:gdLst/>
              <a:ahLst/>
              <a:cxnLst/>
              <a:rect r="r" b="b" t="t" l="l"/>
              <a:pathLst>
                <a:path h="2709333" w="98740">
                  <a:moveTo>
                    <a:pt x="0" y="0"/>
                  </a:moveTo>
                  <a:lnTo>
                    <a:pt x="98740" y="0"/>
                  </a:lnTo>
                  <a:lnTo>
                    <a:pt x="9874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F03B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98740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201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0895" y="8749333"/>
            <a:ext cx="17504158" cy="1251282"/>
            <a:chOff x="0" y="0"/>
            <a:chExt cx="23338877" cy="16683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3924" cy="1668376"/>
            </a:xfrm>
            <a:custGeom>
              <a:avLst/>
              <a:gdLst/>
              <a:ahLst/>
              <a:cxnLst/>
              <a:rect r="r" b="b" t="t" l="l"/>
              <a:pathLst>
                <a:path h="1668376" w="3253924">
                  <a:moveTo>
                    <a:pt x="0" y="0"/>
                  </a:moveTo>
                  <a:lnTo>
                    <a:pt x="3253924" y="0"/>
                  </a:lnTo>
                  <a:lnTo>
                    <a:pt x="3253924" y="1668376"/>
                  </a:lnTo>
                  <a:lnTo>
                    <a:pt x="0" y="1668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694984" y="0"/>
              <a:ext cx="3253924" cy="1668376"/>
            </a:xfrm>
            <a:custGeom>
              <a:avLst/>
              <a:gdLst/>
              <a:ahLst/>
              <a:cxnLst/>
              <a:rect r="r" b="b" t="t" l="l"/>
              <a:pathLst>
                <a:path h="1668376" w="3253924">
                  <a:moveTo>
                    <a:pt x="0" y="0"/>
                  </a:moveTo>
                  <a:lnTo>
                    <a:pt x="3253925" y="0"/>
                  </a:lnTo>
                  <a:lnTo>
                    <a:pt x="3253925" y="1668376"/>
                  </a:lnTo>
                  <a:lnTo>
                    <a:pt x="0" y="1668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389968" y="0"/>
              <a:ext cx="3253924" cy="1668376"/>
            </a:xfrm>
            <a:custGeom>
              <a:avLst/>
              <a:gdLst/>
              <a:ahLst/>
              <a:cxnLst/>
              <a:rect r="r" b="b" t="t" l="l"/>
              <a:pathLst>
                <a:path h="1668376" w="3253924">
                  <a:moveTo>
                    <a:pt x="0" y="0"/>
                  </a:moveTo>
                  <a:lnTo>
                    <a:pt x="3253925" y="0"/>
                  </a:lnTo>
                  <a:lnTo>
                    <a:pt x="3253925" y="1668376"/>
                  </a:lnTo>
                  <a:lnTo>
                    <a:pt x="0" y="1668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3346581" y="0"/>
              <a:ext cx="3253924" cy="1668376"/>
            </a:xfrm>
            <a:custGeom>
              <a:avLst/>
              <a:gdLst/>
              <a:ahLst/>
              <a:cxnLst/>
              <a:rect r="r" b="b" t="t" l="l"/>
              <a:pathLst>
                <a:path h="1668376" w="3253924">
                  <a:moveTo>
                    <a:pt x="0" y="0"/>
                  </a:moveTo>
                  <a:lnTo>
                    <a:pt x="3253925" y="0"/>
                  </a:lnTo>
                  <a:lnTo>
                    <a:pt x="3253925" y="1668376"/>
                  </a:lnTo>
                  <a:lnTo>
                    <a:pt x="0" y="1668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0041565" y="0"/>
              <a:ext cx="3253924" cy="1668376"/>
            </a:xfrm>
            <a:custGeom>
              <a:avLst/>
              <a:gdLst/>
              <a:ahLst/>
              <a:cxnLst/>
              <a:rect r="r" b="b" t="t" l="l"/>
              <a:pathLst>
                <a:path h="1668376" w="3253924">
                  <a:moveTo>
                    <a:pt x="0" y="0"/>
                  </a:moveTo>
                  <a:lnTo>
                    <a:pt x="3253925" y="0"/>
                  </a:lnTo>
                  <a:lnTo>
                    <a:pt x="3253925" y="1668376"/>
                  </a:lnTo>
                  <a:lnTo>
                    <a:pt x="0" y="1668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6736550" y="0"/>
              <a:ext cx="3253924" cy="1668376"/>
            </a:xfrm>
            <a:custGeom>
              <a:avLst/>
              <a:gdLst/>
              <a:ahLst/>
              <a:cxnLst/>
              <a:rect r="r" b="b" t="t" l="l"/>
              <a:pathLst>
                <a:path h="1668376" w="3253924">
                  <a:moveTo>
                    <a:pt x="0" y="0"/>
                  </a:moveTo>
                  <a:lnTo>
                    <a:pt x="3253924" y="0"/>
                  </a:lnTo>
                  <a:lnTo>
                    <a:pt x="3253924" y="1668376"/>
                  </a:lnTo>
                  <a:lnTo>
                    <a:pt x="0" y="1668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0084953" y="0"/>
              <a:ext cx="3253924" cy="1668376"/>
            </a:xfrm>
            <a:custGeom>
              <a:avLst/>
              <a:gdLst/>
              <a:ahLst/>
              <a:cxnLst/>
              <a:rect r="r" b="b" t="t" l="l"/>
              <a:pathLst>
                <a:path h="1668376" w="3253924">
                  <a:moveTo>
                    <a:pt x="0" y="0"/>
                  </a:moveTo>
                  <a:lnTo>
                    <a:pt x="3253924" y="0"/>
                  </a:lnTo>
                  <a:lnTo>
                    <a:pt x="3253924" y="1668376"/>
                  </a:lnTo>
                  <a:lnTo>
                    <a:pt x="0" y="1668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8975598" y="-8975598"/>
            <a:ext cx="374904" cy="18326100"/>
            <a:chOff x="0" y="0"/>
            <a:chExt cx="98740" cy="48266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8740" cy="4826627"/>
            </a:xfrm>
            <a:custGeom>
              <a:avLst/>
              <a:gdLst/>
              <a:ahLst/>
              <a:cxnLst/>
              <a:rect r="r" b="b" t="t" l="l"/>
              <a:pathLst>
                <a:path h="4826627" w="98740">
                  <a:moveTo>
                    <a:pt x="0" y="0"/>
                  </a:moveTo>
                  <a:lnTo>
                    <a:pt x="98740" y="0"/>
                  </a:lnTo>
                  <a:lnTo>
                    <a:pt x="98740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250C5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98740" cy="4874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28700" y="6629408"/>
            <a:ext cx="1450014" cy="1450014"/>
          </a:xfrm>
          <a:custGeom>
            <a:avLst/>
            <a:gdLst/>
            <a:ahLst/>
            <a:cxnLst/>
            <a:rect r="r" b="b" t="t" l="l"/>
            <a:pathLst>
              <a:path h="1450014" w="1450014">
                <a:moveTo>
                  <a:pt x="0" y="0"/>
                </a:moveTo>
                <a:lnTo>
                  <a:pt x="1450014" y="0"/>
                </a:lnTo>
                <a:lnTo>
                  <a:pt x="1450014" y="1450014"/>
                </a:lnTo>
                <a:lnTo>
                  <a:pt x="0" y="14500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482988" y="6706923"/>
            <a:ext cx="2033201" cy="1522938"/>
          </a:xfrm>
          <a:custGeom>
            <a:avLst/>
            <a:gdLst/>
            <a:ahLst/>
            <a:cxnLst/>
            <a:rect r="r" b="b" t="t" l="l"/>
            <a:pathLst>
              <a:path h="1522938" w="2033201">
                <a:moveTo>
                  <a:pt x="0" y="0"/>
                </a:moveTo>
                <a:lnTo>
                  <a:pt x="2033200" y="0"/>
                </a:lnTo>
                <a:lnTo>
                  <a:pt x="2033200" y="1522938"/>
                </a:lnTo>
                <a:lnTo>
                  <a:pt x="0" y="15229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945059" y="6593629"/>
            <a:ext cx="1409494" cy="1409494"/>
          </a:xfrm>
          <a:custGeom>
            <a:avLst/>
            <a:gdLst/>
            <a:ahLst/>
            <a:cxnLst/>
            <a:rect r="r" b="b" t="t" l="l"/>
            <a:pathLst>
              <a:path h="1409494" w="1409494">
                <a:moveTo>
                  <a:pt x="0" y="0"/>
                </a:moveTo>
                <a:lnTo>
                  <a:pt x="1409493" y="0"/>
                </a:lnTo>
                <a:lnTo>
                  <a:pt x="1409493" y="1409494"/>
                </a:lnTo>
                <a:lnTo>
                  <a:pt x="0" y="14094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094834" y="6478969"/>
            <a:ext cx="3097733" cy="1750892"/>
          </a:xfrm>
          <a:custGeom>
            <a:avLst/>
            <a:gdLst/>
            <a:ahLst/>
            <a:cxnLst/>
            <a:rect r="r" b="b" t="t" l="l"/>
            <a:pathLst>
              <a:path h="1750892" w="3097733">
                <a:moveTo>
                  <a:pt x="0" y="0"/>
                </a:moveTo>
                <a:lnTo>
                  <a:pt x="3097733" y="0"/>
                </a:lnTo>
                <a:lnTo>
                  <a:pt x="3097733" y="1750892"/>
                </a:lnTo>
                <a:lnTo>
                  <a:pt x="0" y="175089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947491" y="1312008"/>
            <a:ext cx="14289704" cy="2263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Tec</a:t>
            </a:r>
            <a:r>
              <a:rPr lang="en-US" sz="8000" strike="noStrike" u="none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h</a:t>
            </a:r>
            <a:r>
              <a:rPr lang="en-US" sz="8000" strike="noStrike" u="none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 S</a:t>
            </a:r>
            <a:r>
              <a:rPr lang="en-US" sz="8000" strike="noStrike" u="none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t</a:t>
            </a:r>
            <a:r>
              <a:rPr lang="en-US" sz="8000" strike="noStrike" u="none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ack</a:t>
            </a:r>
            <a:r>
              <a:rPr lang="en-US" sz="8000" strike="noStrike" u="none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 </a:t>
            </a:r>
            <a:r>
              <a:rPr lang="en-US" sz="8000" strike="noStrike" u="none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&amp;</a:t>
            </a:r>
            <a:r>
              <a:rPr lang="en-US" sz="8000" strike="noStrike" u="none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 T</a:t>
            </a:r>
            <a:r>
              <a:rPr lang="en-US" sz="8000" strike="noStrike" u="none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oo</a:t>
            </a:r>
            <a:r>
              <a:rPr lang="en-US" sz="8000" strike="noStrike" u="none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ls</a:t>
            </a:r>
          </a:p>
          <a:p>
            <a:pPr algn="ctr" marL="0" indent="0" lvl="0">
              <a:lnSpc>
                <a:spcPts val="8800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834553" y="6532940"/>
            <a:ext cx="3699996" cy="358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9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5392347" y="5161340"/>
            <a:ext cx="3699996" cy="358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9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9949594" y="6532940"/>
            <a:ext cx="3699996" cy="358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9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3649590" y="6075740"/>
            <a:ext cx="3699996" cy="358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9"/>
              </a:lnSpc>
            </a:pPr>
          </a:p>
        </p:txBody>
      </p:sp>
      <p:grpSp>
        <p:nvGrpSpPr>
          <p:cNvPr name="Group 22" id="22"/>
          <p:cNvGrpSpPr/>
          <p:nvPr/>
        </p:nvGrpSpPr>
        <p:grpSpPr>
          <a:xfrm rot="0">
            <a:off x="322479" y="4376767"/>
            <a:ext cx="4724143" cy="1582730"/>
            <a:chOff x="0" y="0"/>
            <a:chExt cx="6298858" cy="2110307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827183"/>
              <a:ext cx="6298858" cy="12831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</a:pPr>
              <a:r>
                <a:rPr lang="en-US" sz="2799">
                  <a:solidFill>
                    <a:srgbClr val="FEFBF8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</a:t>
              </a:r>
              <a:r>
                <a:rPr lang="en-US" sz="2799">
                  <a:solidFill>
                    <a:srgbClr val="FEFBF8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andas, Statsmodels, Matplotlib, Plotly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-57150"/>
              <a:ext cx="6298858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</a:pPr>
              <a:r>
                <a:rPr lang="en-US" b="true" sz="2799">
                  <a:solidFill>
                    <a:srgbClr val="FEFB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PYTHON LIBRARIES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115039" y="4349537"/>
            <a:ext cx="3699996" cy="1497882"/>
            <a:chOff x="0" y="0"/>
            <a:chExt cx="4933328" cy="1997176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0" y="714052"/>
              <a:ext cx="4933328" cy="12831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</a:pPr>
              <a:r>
                <a:rPr lang="en-US" sz="2799">
                  <a:solidFill>
                    <a:srgbClr val="FEFBF8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Re</a:t>
              </a:r>
              <a:r>
                <a:rPr lang="en-US" sz="2799">
                  <a:solidFill>
                    <a:srgbClr val="FEFBF8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ad/write files to AWS S3 like local storage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-57150"/>
              <a:ext cx="4933328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FEFB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S3FS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793702" y="4349537"/>
            <a:ext cx="3699996" cy="1497882"/>
            <a:chOff x="0" y="0"/>
            <a:chExt cx="4933328" cy="1997176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0" y="714052"/>
              <a:ext cx="4933328" cy="12831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</a:pPr>
              <a:r>
                <a:rPr lang="en-US" sz="2799">
                  <a:solidFill>
                    <a:srgbClr val="FEFBF8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Re</a:t>
              </a:r>
              <a:r>
                <a:rPr lang="en-US" sz="2799">
                  <a:solidFill>
                    <a:srgbClr val="FEFBF8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al-time Bitcoin data collection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-57150"/>
              <a:ext cx="4933328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FEFB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COINGECKO API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4195057" y="4349537"/>
            <a:ext cx="3699996" cy="1497882"/>
            <a:chOff x="0" y="0"/>
            <a:chExt cx="4933328" cy="1997176"/>
          </a:xfrm>
        </p:grpSpPr>
        <p:sp>
          <p:nvSpPr>
            <p:cNvPr name="TextBox 32" id="32"/>
            <p:cNvSpPr txBox="true"/>
            <p:nvPr/>
          </p:nvSpPr>
          <p:spPr>
            <a:xfrm rot="0">
              <a:off x="0" y="714052"/>
              <a:ext cx="4933328" cy="12831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</a:pPr>
              <a:r>
                <a:rPr lang="en-US" sz="2799">
                  <a:solidFill>
                    <a:srgbClr val="FEFBF8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Deployi</a:t>
              </a:r>
              <a:r>
                <a:rPr lang="en-US" sz="2799">
                  <a:solidFill>
                    <a:srgbClr val="FEFBF8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ng dashboard on local server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0" y="-57150"/>
              <a:ext cx="4933328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FEFB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FLASK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201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04776" y="4703226"/>
            <a:ext cx="5148956" cy="2384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9350"/>
              </a:lnSpc>
              <a:spcBef>
                <a:spcPct val="0"/>
              </a:spcBef>
            </a:pPr>
            <a:r>
              <a:rPr lang="en-US" sz="8500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Pipelin</a:t>
            </a:r>
            <a:r>
              <a:rPr lang="en-US" sz="8500" strike="noStrike" u="none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e</a:t>
            </a:r>
          </a:p>
          <a:p>
            <a:pPr algn="just" marL="0" indent="0" lvl="0">
              <a:lnSpc>
                <a:spcPts val="9350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8634412" y="1976495"/>
            <a:ext cx="8118724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b="true" sz="2600">
                <a:solidFill>
                  <a:srgbClr val="FEFBF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</a:t>
            </a:r>
            <a:r>
              <a:rPr lang="en-US" b="true" sz="2600">
                <a:solidFill>
                  <a:srgbClr val="FEFBF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ETCH DATA USING COINGECKO API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634412" y="3287771"/>
            <a:ext cx="8118724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b="true" sz="2600">
                <a:solidFill>
                  <a:srgbClr val="FEFBF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STORE D</a:t>
            </a:r>
            <a:r>
              <a:rPr lang="en-US" b="true" sz="2600">
                <a:solidFill>
                  <a:srgbClr val="FEFBF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ATA LOCALLY AND OPTIONALLY TO S3 VIA S3FS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634412" y="4809116"/>
            <a:ext cx="8118724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b="true" sz="2600">
                <a:solidFill>
                  <a:srgbClr val="FEFBF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ANALYZE TREND, </a:t>
            </a:r>
            <a:r>
              <a:rPr lang="en-US" b="true" sz="2600">
                <a:solidFill>
                  <a:srgbClr val="FEFBF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SEASONALITY, AND ANOMALIES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91921" y="9035718"/>
            <a:ext cx="17504158" cy="1251282"/>
            <a:chOff x="0" y="0"/>
            <a:chExt cx="23338877" cy="16683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53924" cy="1668376"/>
            </a:xfrm>
            <a:custGeom>
              <a:avLst/>
              <a:gdLst/>
              <a:ahLst/>
              <a:cxnLst/>
              <a:rect r="r" b="b" t="t" l="l"/>
              <a:pathLst>
                <a:path h="1668376" w="3253924">
                  <a:moveTo>
                    <a:pt x="0" y="0"/>
                  </a:moveTo>
                  <a:lnTo>
                    <a:pt x="3253924" y="0"/>
                  </a:lnTo>
                  <a:lnTo>
                    <a:pt x="3253924" y="1668376"/>
                  </a:lnTo>
                  <a:lnTo>
                    <a:pt x="0" y="1668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694984" y="0"/>
              <a:ext cx="3253924" cy="1668376"/>
            </a:xfrm>
            <a:custGeom>
              <a:avLst/>
              <a:gdLst/>
              <a:ahLst/>
              <a:cxnLst/>
              <a:rect r="r" b="b" t="t" l="l"/>
              <a:pathLst>
                <a:path h="1668376" w="3253924">
                  <a:moveTo>
                    <a:pt x="0" y="0"/>
                  </a:moveTo>
                  <a:lnTo>
                    <a:pt x="3253925" y="0"/>
                  </a:lnTo>
                  <a:lnTo>
                    <a:pt x="3253925" y="1668376"/>
                  </a:lnTo>
                  <a:lnTo>
                    <a:pt x="0" y="1668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389968" y="0"/>
              <a:ext cx="3253924" cy="1668376"/>
            </a:xfrm>
            <a:custGeom>
              <a:avLst/>
              <a:gdLst/>
              <a:ahLst/>
              <a:cxnLst/>
              <a:rect r="r" b="b" t="t" l="l"/>
              <a:pathLst>
                <a:path h="1668376" w="3253924">
                  <a:moveTo>
                    <a:pt x="0" y="0"/>
                  </a:moveTo>
                  <a:lnTo>
                    <a:pt x="3253925" y="0"/>
                  </a:lnTo>
                  <a:lnTo>
                    <a:pt x="3253925" y="1668376"/>
                  </a:lnTo>
                  <a:lnTo>
                    <a:pt x="0" y="1668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346581" y="0"/>
              <a:ext cx="3253924" cy="1668376"/>
            </a:xfrm>
            <a:custGeom>
              <a:avLst/>
              <a:gdLst/>
              <a:ahLst/>
              <a:cxnLst/>
              <a:rect r="r" b="b" t="t" l="l"/>
              <a:pathLst>
                <a:path h="1668376" w="3253924">
                  <a:moveTo>
                    <a:pt x="0" y="0"/>
                  </a:moveTo>
                  <a:lnTo>
                    <a:pt x="3253925" y="0"/>
                  </a:lnTo>
                  <a:lnTo>
                    <a:pt x="3253925" y="1668376"/>
                  </a:lnTo>
                  <a:lnTo>
                    <a:pt x="0" y="1668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0041565" y="0"/>
              <a:ext cx="3253924" cy="1668376"/>
            </a:xfrm>
            <a:custGeom>
              <a:avLst/>
              <a:gdLst/>
              <a:ahLst/>
              <a:cxnLst/>
              <a:rect r="r" b="b" t="t" l="l"/>
              <a:pathLst>
                <a:path h="1668376" w="3253924">
                  <a:moveTo>
                    <a:pt x="0" y="0"/>
                  </a:moveTo>
                  <a:lnTo>
                    <a:pt x="3253925" y="0"/>
                  </a:lnTo>
                  <a:lnTo>
                    <a:pt x="3253925" y="1668376"/>
                  </a:lnTo>
                  <a:lnTo>
                    <a:pt x="0" y="1668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6736550" y="0"/>
              <a:ext cx="3253924" cy="1668376"/>
            </a:xfrm>
            <a:custGeom>
              <a:avLst/>
              <a:gdLst/>
              <a:ahLst/>
              <a:cxnLst/>
              <a:rect r="r" b="b" t="t" l="l"/>
              <a:pathLst>
                <a:path h="1668376" w="3253924">
                  <a:moveTo>
                    <a:pt x="0" y="0"/>
                  </a:moveTo>
                  <a:lnTo>
                    <a:pt x="3253924" y="0"/>
                  </a:lnTo>
                  <a:lnTo>
                    <a:pt x="3253924" y="1668376"/>
                  </a:lnTo>
                  <a:lnTo>
                    <a:pt x="0" y="1668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0084953" y="0"/>
              <a:ext cx="3253924" cy="1668376"/>
            </a:xfrm>
            <a:custGeom>
              <a:avLst/>
              <a:gdLst/>
              <a:ahLst/>
              <a:cxnLst/>
              <a:rect r="r" b="b" t="t" l="l"/>
              <a:pathLst>
                <a:path h="1668376" w="3253924">
                  <a:moveTo>
                    <a:pt x="0" y="0"/>
                  </a:moveTo>
                  <a:lnTo>
                    <a:pt x="3253924" y="0"/>
                  </a:lnTo>
                  <a:lnTo>
                    <a:pt x="3253924" y="1668376"/>
                  </a:lnTo>
                  <a:lnTo>
                    <a:pt x="0" y="1668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5400000">
            <a:off x="8975598" y="-8975598"/>
            <a:ext cx="374904" cy="18326100"/>
            <a:chOff x="0" y="0"/>
            <a:chExt cx="98740" cy="482662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8740" cy="4826627"/>
            </a:xfrm>
            <a:custGeom>
              <a:avLst/>
              <a:gdLst/>
              <a:ahLst/>
              <a:cxnLst/>
              <a:rect r="r" b="b" t="t" l="l"/>
              <a:pathLst>
                <a:path h="4826627" w="98740">
                  <a:moveTo>
                    <a:pt x="0" y="0"/>
                  </a:moveTo>
                  <a:lnTo>
                    <a:pt x="98740" y="0"/>
                  </a:lnTo>
                  <a:lnTo>
                    <a:pt x="98740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250C5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98740" cy="4874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8634412" y="6124201"/>
            <a:ext cx="8118724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b="true" sz="2600">
                <a:solidFill>
                  <a:srgbClr val="FEFBF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FOREC</a:t>
            </a:r>
            <a:r>
              <a:rPr lang="en-US" b="true" sz="2600">
                <a:solidFill>
                  <a:srgbClr val="FEFBF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AST PRICES AND VISUALIZE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634412" y="7439286"/>
            <a:ext cx="8118724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b="true" sz="2600">
                <a:solidFill>
                  <a:srgbClr val="FEFBF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DEPLOY IN</a:t>
            </a:r>
            <a:r>
              <a:rPr lang="en-US" b="true" sz="2600">
                <a:solidFill>
                  <a:srgbClr val="FEFBF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SIGHTS ON FLASK DASHBOARD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201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8975598" y="-8975598"/>
            <a:ext cx="374904" cy="18326100"/>
            <a:chOff x="0" y="0"/>
            <a:chExt cx="98740" cy="48266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8740" cy="4826627"/>
            </a:xfrm>
            <a:custGeom>
              <a:avLst/>
              <a:gdLst/>
              <a:ahLst/>
              <a:cxnLst/>
              <a:rect r="r" b="b" t="t" l="l"/>
              <a:pathLst>
                <a:path h="4826627" w="98740">
                  <a:moveTo>
                    <a:pt x="0" y="0"/>
                  </a:moveTo>
                  <a:lnTo>
                    <a:pt x="98740" y="0"/>
                  </a:lnTo>
                  <a:lnTo>
                    <a:pt x="98740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18081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98740" cy="4874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rot="0">
            <a:off x="0" y="0"/>
            <a:ext cx="9525" cy="10287000"/>
          </a:xfrm>
          <a:prstGeom prst="rect">
            <a:avLst/>
          </a:prstGeom>
          <a:solidFill>
            <a:srgbClr val="250C58"/>
          </a:solidFill>
        </p:spPr>
      </p:sp>
      <p:grpSp>
        <p:nvGrpSpPr>
          <p:cNvPr name="Group 6" id="6"/>
          <p:cNvGrpSpPr/>
          <p:nvPr/>
        </p:nvGrpSpPr>
        <p:grpSpPr>
          <a:xfrm rot="0">
            <a:off x="11488806" y="8749333"/>
            <a:ext cx="7461682" cy="1251282"/>
            <a:chOff x="0" y="0"/>
            <a:chExt cx="9948909" cy="16683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53924" cy="1668376"/>
            </a:xfrm>
            <a:custGeom>
              <a:avLst/>
              <a:gdLst/>
              <a:ahLst/>
              <a:cxnLst/>
              <a:rect r="r" b="b" t="t" l="l"/>
              <a:pathLst>
                <a:path h="1668376" w="3253924">
                  <a:moveTo>
                    <a:pt x="0" y="0"/>
                  </a:moveTo>
                  <a:lnTo>
                    <a:pt x="3253924" y="0"/>
                  </a:lnTo>
                  <a:lnTo>
                    <a:pt x="3253924" y="1668376"/>
                  </a:lnTo>
                  <a:lnTo>
                    <a:pt x="0" y="1668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346581" y="0"/>
              <a:ext cx="3253924" cy="1668376"/>
            </a:xfrm>
            <a:custGeom>
              <a:avLst/>
              <a:gdLst/>
              <a:ahLst/>
              <a:cxnLst/>
              <a:rect r="r" b="b" t="t" l="l"/>
              <a:pathLst>
                <a:path h="1668376" w="3253924">
                  <a:moveTo>
                    <a:pt x="0" y="0"/>
                  </a:moveTo>
                  <a:lnTo>
                    <a:pt x="3253925" y="0"/>
                  </a:lnTo>
                  <a:lnTo>
                    <a:pt x="3253925" y="1668376"/>
                  </a:lnTo>
                  <a:lnTo>
                    <a:pt x="0" y="1668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694984" y="0"/>
              <a:ext cx="3253924" cy="1668376"/>
            </a:xfrm>
            <a:custGeom>
              <a:avLst/>
              <a:gdLst/>
              <a:ahLst/>
              <a:cxnLst/>
              <a:rect r="r" b="b" t="t" l="l"/>
              <a:pathLst>
                <a:path h="1668376" w="3253924">
                  <a:moveTo>
                    <a:pt x="0" y="0"/>
                  </a:moveTo>
                  <a:lnTo>
                    <a:pt x="3253925" y="0"/>
                  </a:lnTo>
                  <a:lnTo>
                    <a:pt x="3253925" y="1668376"/>
                  </a:lnTo>
                  <a:lnTo>
                    <a:pt x="0" y="1668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537906" y="1179920"/>
            <a:ext cx="7995841" cy="8195054"/>
            <a:chOff x="0" y="0"/>
            <a:chExt cx="10661122" cy="10926739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76200"/>
              <a:ext cx="10661122" cy="30844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967"/>
                </a:lnSpc>
                <a:spcBef>
                  <a:spcPct val="0"/>
                </a:spcBef>
              </a:pPr>
              <a:r>
                <a:rPr lang="en-US" sz="8152">
                  <a:solidFill>
                    <a:srgbClr val="FEFBF8"/>
                  </a:solidFill>
                  <a:latin typeface="Carollo Playscript"/>
                  <a:ea typeface="Carollo Playscript"/>
                  <a:cs typeface="Carollo Playscript"/>
                  <a:sym typeface="Carollo Playscript"/>
                </a:rPr>
                <a:t>Da</a:t>
              </a:r>
              <a:r>
                <a:rPr lang="en-US" sz="8152" strike="noStrike" u="none">
                  <a:solidFill>
                    <a:srgbClr val="FEFBF8"/>
                  </a:solidFill>
                  <a:latin typeface="Carollo Playscript"/>
                  <a:ea typeface="Carollo Playscript"/>
                  <a:cs typeface="Carollo Playscript"/>
                  <a:sym typeface="Carollo Playscript"/>
                </a:rPr>
                <a:t>t</a:t>
              </a:r>
              <a:r>
                <a:rPr lang="en-US" sz="8152" strike="noStrike" u="none">
                  <a:solidFill>
                    <a:srgbClr val="FEFBF8"/>
                  </a:solidFill>
                  <a:latin typeface="Carollo Playscript"/>
                  <a:ea typeface="Carollo Playscript"/>
                  <a:cs typeface="Carollo Playscript"/>
                  <a:sym typeface="Carollo Playscript"/>
                </a:rPr>
                <a:t>a C</a:t>
              </a:r>
              <a:r>
                <a:rPr lang="en-US" sz="8152" strike="noStrike" u="none">
                  <a:solidFill>
                    <a:srgbClr val="FEFBF8"/>
                  </a:solidFill>
                  <a:latin typeface="Carollo Playscript"/>
                  <a:ea typeface="Carollo Playscript"/>
                  <a:cs typeface="Carollo Playscript"/>
                  <a:sym typeface="Carollo Playscript"/>
                </a:rPr>
                <a:t>o</a:t>
              </a:r>
              <a:r>
                <a:rPr lang="en-US" sz="8152" strike="noStrike" u="none">
                  <a:solidFill>
                    <a:srgbClr val="FEFBF8"/>
                  </a:solidFill>
                  <a:latin typeface="Carollo Playscript"/>
                  <a:ea typeface="Carollo Playscript"/>
                  <a:cs typeface="Carollo Playscript"/>
                  <a:sym typeface="Carollo Playscript"/>
                </a:rPr>
                <a:t>llect</a:t>
              </a:r>
              <a:r>
                <a:rPr lang="en-US" sz="8152" strike="noStrike" u="none">
                  <a:solidFill>
                    <a:srgbClr val="FEFBF8"/>
                  </a:solidFill>
                  <a:latin typeface="Carollo Playscript"/>
                  <a:ea typeface="Carollo Playscript"/>
                  <a:cs typeface="Carollo Playscript"/>
                  <a:sym typeface="Carollo Playscript"/>
                </a:rPr>
                <a:t>i</a:t>
              </a:r>
              <a:r>
                <a:rPr lang="en-US" sz="8152" strike="noStrike" u="none">
                  <a:solidFill>
                    <a:srgbClr val="FEFBF8"/>
                  </a:solidFill>
                  <a:latin typeface="Carollo Playscript"/>
                  <a:ea typeface="Carollo Playscript"/>
                  <a:cs typeface="Carollo Playscript"/>
                  <a:sym typeface="Carollo Playscript"/>
                </a:rPr>
                <a:t>o</a:t>
              </a:r>
              <a:r>
                <a:rPr lang="en-US" sz="8152" strike="noStrike" u="none">
                  <a:solidFill>
                    <a:srgbClr val="FEFBF8"/>
                  </a:solidFill>
                  <a:latin typeface="Carollo Playscript"/>
                  <a:ea typeface="Carollo Playscript"/>
                  <a:cs typeface="Carollo Playscript"/>
                  <a:sym typeface="Carollo Playscript"/>
                </a:rPr>
                <a:t>n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3373695"/>
              <a:ext cx="10661122" cy="75530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8893" indent="-324447" lvl="1">
                <a:lnSpc>
                  <a:spcPts val="4508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5" spc="-60">
                  <a:solidFill>
                    <a:srgbClr val="FEFBF8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U</a:t>
              </a:r>
              <a:r>
                <a:rPr lang="en-US" sz="3005" spc="-60">
                  <a:solidFill>
                    <a:srgbClr val="FEFBF8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sed fetch_bitcoin_data.py to call CoinGecko API</a:t>
              </a:r>
            </a:p>
            <a:p>
              <a:pPr algn="l" marL="648893" indent="-324447" lvl="1">
                <a:lnSpc>
                  <a:spcPts val="4508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5" spc="-60">
                  <a:solidFill>
                    <a:srgbClr val="FEFBF8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Saved 365 days of prices into bitcoin_prices.csv</a:t>
              </a:r>
            </a:p>
            <a:p>
              <a:pPr algn="l" marL="648893" indent="-324447" lvl="1">
                <a:lnSpc>
                  <a:spcPts val="4508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5" spc="-60">
                  <a:solidFill>
                    <a:srgbClr val="FEFBF8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Output also uploaded to S3 bucket: bitcoin-timeseries-data-kv</a:t>
              </a:r>
            </a:p>
            <a:p>
              <a:pPr algn="l" marL="648893" indent="-324447" lvl="1">
                <a:lnSpc>
                  <a:spcPts val="4508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5" spc="-60">
                  <a:solidFill>
                    <a:srgbClr val="FEFBF8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Preview of the raw data:</a:t>
              </a:r>
            </a:p>
            <a:p>
              <a:pPr algn="l" marL="648893" indent="-324447" lvl="1">
                <a:lnSpc>
                  <a:spcPts val="4508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5" spc="-60">
                  <a:solidFill>
                    <a:srgbClr val="FEFBF8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Columns: Date, Price (USD)</a:t>
              </a:r>
            </a:p>
            <a:p>
              <a:pPr algn="l" marL="648893" indent="-324447" lvl="1">
                <a:lnSpc>
                  <a:spcPts val="4508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5" spc="-60">
                  <a:solidFill>
                    <a:srgbClr val="FEFBF8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Sample: 2024-05-01, 62924.87</a:t>
              </a:r>
            </a:p>
            <a:p>
              <a:pPr algn="l" marL="0" indent="0" lvl="0">
                <a:lnSpc>
                  <a:spcPts val="4508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0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58582" y="0"/>
            <a:ext cx="6938943" cy="10287000"/>
            <a:chOff x="0" y="0"/>
            <a:chExt cx="182754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7541" cy="2709333"/>
            </a:xfrm>
            <a:custGeom>
              <a:avLst/>
              <a:gdLst/>
              <a:ahLst/>
              <a:cxnLst/>
              <a:rect r="r" b="b" t="t" l="l"/>
              <a:pathLst>
                <a:path h="2709333" w="1827541">
                  <a:moveTo>
                    <a:pt x="0" y="0"/>
                  </a:moveTo>
                  <a:lnTo>
                    <a:pt x="1827541" y="0"/>
                  </a:lnTo>
                  <a:lnTo>
                    <a:pt x="182754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F2C4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827540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1969419"/>
            <a:ext cx="11349057" cy="6348163"/>
          </a:xfrm>
          <a:custGeom>
            <a:avLst/>
            <a:gdLst/>
            <a:ahLst/>
            <a:cxnLst/>
            <a:rect r="r" b="b" t="t" l="l"/>
            <a:pathLst>
              <a:path h="6348163" w="11349057">
                <a:moveTo>
                  <a:pt x="0" y="0"/>
                </a:moveTo>
                <a:lnTo>
                  <a:pt x="11349057" y="0"/>
                </a:lnTo>
                <a:lnTo>
                  <a:pt x="11349057" y="6348162"/>
                </a:lnTo>
                <a:lnTo>
                  <a:pt x="0" y="6348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64" t="-7778" r="-7433" b="-212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537893" y="446020"/>
            <a:ext cx="8344443" cy="2505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99"/>
              </a:lnSpc>
              <a:spcBef>
                <a:spcPct val="0"/>
              </a:spcBef>
            </a:pPr>
            <a:r>
              <a:rPr lang="en-US" sz="5999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Preprocessing</a:t>
            </a:r>
            <a:r>
              <a:rPr lang="en-US" sz="5999" strike="noStrike" u="none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 </a:t>
            </a:r>
            <a:r>
              <a:rPr lang="en-US" sz="5999" strike="noStrike" u="none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&amp;</a:t>
            </a:r>
            <a:r>
              <a:rPr lang="en-US" sz="5999" strike="noStrike" u="none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 </a:t>
            </a:r>
            <a:r>
              <a:rPr lang="en-US" sz="5999" strike="noStrike" u="none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Tr</a:t>
            </a:r>
            <a:r>
              <a:rPr lang="en-US" sz="5999" strike="noStrike" u="none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en</a:t>
            </a:r>
            <a:r>
              <a:rPr lang="en-US" sz="5999" strike="noStrike" u="none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d</a:t>
            </a:r>
            <a:r>
              <a:rPr lang="en-US" sz="5999" strike="noStrike" u="none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 </a:t>
            </a:r>
            <a:r>
              <a:rPr lang="en-US" sz="5999" strike="noStrike" u="none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Ana</a:t>
            </a:r>
            <a:r>
              <a:rPr lang="en-US" sz="5999" strike="noStrike" u="none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l</a:t>
            </a:r>
            <a:r>
              <a:rPr lang="en-US" sz="5999" strike="noStrike" u="none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ysis</a:t>
            </a:r>
          </a:p>
          <a:p>
            <a:pPr algn="l" marL="0" indent="0" lvl="0">
              <a:lnSpc>
                <a:spcPts val="659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187644" y="3639709"/>
            <a:ext cx="5794915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</a:pPr>
            <a:r>
              <a:rPr lang="en-US" b="true" sz="2000">
                <a:solidFill>
                  <a:srgbClr val="FEFBF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PERFORMED STL DECOMPOSITION: TREND, </a:t>
            </a:r>
            <a:r>
              <a:rPr lang="en-US" b="true" sz="2000">
                <a:solidFill>
                  <a:srgbClr val="FEFBF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SEASONAL, RESIDUAL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727775" y="6414659"/>
            <a:ext cx="625478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</a:pPr>
            <a:r>
              <a:rPr lang="en-US" b="true" sz="2000">
                <a:solidFill>
                  <a:srgbClr val="FEFBF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VISUALIZED PATTERNS OV</a:t>
            </a:r>
            <a:r>
              <a:rPr lang="en-US" b="true" sz="2000">
                <a:solidFill>
                  <a:srgbClr val="FEFBF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ER TIME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53412" y="5027184"/>
            <a:ext cx="6434588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</a:pPr>
            <a:r>
              <a:rPr lang="en-US" b="true" sz="2000">
                <a:solidFill>
                  <a:srgbClr val="FEFBF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GENERATED 5-D</a:t>
            </a:r>
            <a:r>
              <a:rPr lang="en-US" b="true" sz="2000">
                <a:solidFill>
                  <a:srgbClr val="FEFBF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AY MOVING AVERAGE FOR SMOOTHER INSIGHTS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201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9818" y="6798183"/>
            <a:ext cx="17922529" cy="2460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80"/>
              </a:lnSpc>
            </a:pPr>
            <a:r>
              <a:rPr lang="en-US" b="true" sz="9480">
                <a:solidFill>
                  <a:srgbClr val="FEFBF8"/>
                </a:solidFill>
                <a:latin typeface="Carollo Playscript Bold"/>
                <a:ea typeface="Carollo Playscript Bold"/>
                <a:cs typeface="Carollo Playscript Bold"/>
                <a:sym typeface="Carollo Playscript Bold"/>
              </a:rPr>
              <a:t>For</a:t>
            </a:r>
            <a:r>
              <a:rPr lang="en-US" b="true" sz="9480">
                <a:solidFill>
                  <a:srgbClr val="FEFBF8"/>
                </a:solidFill>
                <a:latin typeface="Carollo Playscript Bold"/>
                <a:ea typeface="Carollo Playscript Bold"/>
                <a:cs typeface="Carollo Playscript Bold"/>
                <a:sym typeface="Carollo Playscript Bold"/>
              </a:rPr>
              <a:t>ecasting with ARIMA</a:t>
            </a:r>
          </a:p>
          <a:p>
            <a:pPr algn="l" marL="0" indent="0" lvl="0">
              <a:lnSpc>
                <a:spcPts val="9480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17913096" y="0"/>
            <a:ext cx="374904" cy="10287000"/>
            <a:chOff x="0" y="0"/>
            <a:chExt cx="98740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8740" cy="2709333"/>
            </a:xfrm>
            <a:custGeom>
              <a:avLst/>
              <a:gdLst/>
              <a:ahLst/>
              <a:cxnLst/>
              <a:rect r="r" b="b" t="t" l="l"/>
              <a:pathLst>
                <a:path h="2709333" w="98740">
                  <a:moveTo>
                    <a:pt x="0" y="0"/>
                  </a:moveTo>
                  <a:lnTo>
                    <a:pt x="98740" y="0"/>
                  </a:lnTo>
                  <a:lnTo>
                    <a:pt x="9874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50C5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98740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336688" y="92442"/>
            <a:ext cx="12816133" cy="6307019"/>
          </a:xfrm>
          <a:custGeom>
            <a:avLst/>
            <a:gdLst/>
            <a:ahLst/>
            <a:cxnLst/>
            <a:rect r="r" b="b" t="t" l="l"/>
            <a:pathLst>
              <a:path h="6307019" w="12816133">
                <a:moveTo>
                  <a:pt x="0" y="0"/>
                </a:moveTo>
                <a:lnTo>
                  <a:pt x="12816133" y="0"/>
                </a:lnTo>
                <a:lnTo>
                  <a:pt x="12816133" y="6307018"/>
                </a:lnTo>
                <a:lnTo>
                  <a:pt x="0" y="63070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01" r="0" b="-80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9818" y="8373517"/>
            <a:ext cx="4193215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600">
                <a:solidFill>
                  <a:srgbClr val="FEFBF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USED ARIMA TO PR</a:t>
            </a:r>
            <a:r>
              <a:rPr lang="en-US" b="true" sz="2600">
                <a:solidFill>
                  <a:srgbClr val="FEFBF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EDICT 30-DAY FUTURE PRICES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48005" y="8373517"/>
            <a:ext cx="6791990" cy="136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600">
                <a:solidFill>
                  <a:srgbClr val="FEFBF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PLOTTED FOREC</a:t>
            </a:r>
            <a:r>
              <a:rPr lang="en-US" b="true" sz="2600">
                <a:solidFill>
                  <a:srgbClr val="FEFBF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AST WITH CONFIDENCE INTERVALS AND PLOTTED WITH CONFIDENCE INTERVALS (95%)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063870" y="8373517"/>
            <a:ext cx="3893497" cy="136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b="true" sz="2600">
                <a:solidFill>
                  <a:srgbClr val="FEFBF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OUTPU</a:t>
            </a:r>
            <a:r>
              <a:rPr lang="en-US" b="true" sz="2600">
                <a:solidFill>
                  <a:srgbClr val="FEFBF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 SAVED IN BITCOIN_PRICES_WITH_FORECAST.CSV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0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763614" cy="10287000"/>
            <a:chOff x="0" y="0"/>
            <a:chExt cx="178136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81363" cy="2709333"/>
            </a:xfrm>
            <a:custGeom>
              <a:avLst/>
              <a:gdLst/>
              <a:ahLst/>
              <a:cxnLst/>
              <a:rect r="r" b="b" t="t" l="l"/>
              <a:pathLst>
                <a:path h="2709333" w="1781363">
                  <a:moveTo>
                    <a:pt x="0" y="0"/>
                  </a:moveTo>
                  <a:lnTo>
                    <a:pt x="1781363" y="0"/>
                  </a:lnTo>
                  <a:lnTo>
                    <a:pt x="178136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F2C4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78136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913096" y="0"/>
            <a:ext cx="374904" cy="10287000"/>
            <a:chOff x="0" y="0"/>
            <a:chExt cx="98740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8740" cy="2709333"/>
            </a:xfrm>
            <a:custGeom>
              <a:avLst/>
              <a:gdLst/>
              <a:ahLst/>
              <a:cxnLst/>
              <a:rect r="r" b="b" t="t" l="l"/>
              <a:pathLst>
                <a:path h="2709333" w="98740">
                  <a:moveTo>
                    <a:pt x="0" y="0"/>
                  </a:moveTo>
                  <a:lnTo>
                    <a:pt x="98740" y="0"/>
                  </a:lnTo>
                  <a:lnTo>
                    <a:pt x="9874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F03B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98740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235830" y="242938"/>
            <a:ext cx="13161952" cy="6580976"/>
          </a:xfrm>
          <a:custGeom>
            <a:avLst/>
            <a:gdLst/>
            <a:ahLst/>
            <a:cxnLst/>
            <a:rect r="r" b="b" t="t" l="l"/>
            <a:pathLst>
              <a:path h="6580976" w="13161952">
                <a:moveTo>
                  <a:pt x="0" y="0"/>
                </a:moveTo>
                <a:lnTo>
                  <a:pt x="13161952" y="0"/>
                </a:lnTo>
                <a:lnTo>
                  <a:pt x="13161952" y="6580976"/>
                </a:lnTo>
                <a:lnTo>
                  <a:pt x="0" y="65809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817379" y="7521575"/>
            <a:ext cx="9087885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>
                <a:solidFill>
                  <a:srgbClr val="FEFBF8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I</a:t>
            </a:r>
            <a:r>
              <a:rPr lang="en-US" sz="2499">
                <a:solidFill>
                  <a:srgbClr val="FEFBF8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collected one year of daily BTC prices using the CoinGecko API, saved the data as bitcoin_prices.csv, and processed it with fetch_bitcoin_data.py and bitcoin_utils.py</a:t>
            </a:r>
          </a:p>
          <a:p>
            <a:pPr algn="l" marL="0" indent="0" lvl="0">
              <a:lnSpc>
                <a:spcPts val="349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429001" y="6909639"/>
            <a:ext cx="9087885" cy="3860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119"/>
              </a:lnSpc>
            </a:pPr>
            <a:r>
              <a:rPr lang="en-US" sz="9199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Anomaly Detection</a:t>
            </a:r>
          </a:p>
          <a:p>
            <a:pPr algn="l" marL="0" indent="0" lvl="0">
              <a:lnSpc>
                <a:spcPts val="1011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0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1524386" y="0"/>
            <a:ext cx="6763614" cy="10287000"/>
          </a:xfrm>
          <a:prstGeom prst="rect">
            <a:avLst/>
          </a:prstGeom>
          <a:solidFill>
            <a:srgbClr val="AF2C4C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11953387" y="397600"/>
            <a:ext cx="5988042" cy="9485749"/>
            <a:chOff x="0" y="0"/>
            <a:chExt cx="7984056" cy="12647665"/>
          </a:xfrm>
        </p:grpSpPr>
        <p:sp>
          <p:nvSpPr>
            <p:cNvPr name="Freeform 4" id="4"/>
            <p:cNvSpPr/>
            <p:nvPr/>
          </p:nvSpPr>
          <p:spPr>
            <a:xfrm flipH="true" flipV="false" rot="0">
              <a:off x="0" y="0"/>
              <a:ext cx="7984056" cy="4093643"/>
            </a:xfrm>
            <a:custGeom>
              <a:avLst/>
              <a:gdLst/>
              <a:ahLst/>
              <a:cxnLst/>
              <a:rect r="r" b="b" t="t" l="l"/>
              <a:pathLst>
                <a:path h="4093643" w="7984056">
                  <a:moveTo>
                    <a:pt x="7984056" y="0"/>
                  </a:moveTo>
                  <a:lnTo>
                    <a:pt x="0" y="0"/>
                  </a:lnTo>
                  <a:lnTo>
                    <a:pt x="0" y="4093643"/>
                  </a:lnTo>
                  <a:lnTo>
                    <a:pt x="7984056" y="4093643"/>
                  </a:lnTo>
                  <a:lnTo>
                    <a:pt x="7984056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0">
              <a:off x="0" y="8554022"/>
              <a:ext cx="7984056" cy="4093643"/>
            </a:xfrm>
            <a:custGeom>
              <a:avLst/>
              <a:gdLst/>
              <a:ahLst/>
              <a:cxnLst/>
              <a:rect r="r" b="b" t="t" l="l"/>
              <a:pathLst>
                <a:path h="4093643" w="7984056">
                  <a:moveTo>
                    <a:pt x="7984056" y="0"/>
                  </a:moveTo>
                  <a:lnTo>
                    <a:pt x="0" y="0"/>
                  </a:lnTo>
                  <a:lnTo>
                    <a:pt x="0" y="4093643"/>
                  </a:lnTo>
                  <a:lnTo>
                    <a:pt x="7984056" y="4093643"/>
                  </a:lnTo>
                  <a:lnTo>
                    <a:pt x="7984056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0" y="4277011"/>
              <a:ext cx="7984056" cy="4093643"/>
            </a:xfrm>
            <a:custGeom>
              <a:avLst/>
              <a:gdLst/>
              <a:ahLst/>
              <a:cxnLst/>
              <a:rect r="r" b="b" t="t" l="l"/>
              <a:pathLst>
                <a:path h="4093643" w="7984056">
                  <a:moveTo>
                    <a:pt x="7984056" y="0"/>
                  </a:moveTo>
                  <a:lnTo>
                    <a:pt x="0" y="0"/>
                  </a:lnTo>
                  <a:lnTo>
                    <a:pt x="0" y="4093643"/>
                  </a:lnTo>
                  <a:lnTo>
                    <a:pt x="7984056" y="4093643"/>
                  </a:lnTo>
                  <a:lnTo>
                    <a:pt x="7984056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1104900"/>
            <a:ext cx="7437498" cy="319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60"/>
              </a:lnSpc>
              <a:spcBef>
                <a:spcPct val="0"/>
              </a:spcBef>
            </a:pPr>
            <a:r>
              <a:rPr lang="en-US" sz="7600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Insigh</a:t>
            </a:r>
            <a:r>
              <a:rPr lang="en-US" sz="7600" strike="noStrike" u="none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t</a:t>
            </a:r>
            <a:r>
              <a:rPr lang="en-US" sz="7600" strike="noStrike" u="none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s</a:t>
            </a:r>
            <a:r>
              <a:rPr lang="en-US" sz="7600" strike="noStrike" u="none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 </a:t>
            </a:r>
            <a:r>
              <a:rPr lang="en-US" sz="7600" strike="noStrike" u="none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&amp;</a:t>
            </a:r>
            <a:r>
              <a:rPr lang="en-US" sz="7600" strike="noStrike" u="none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 </a:t>
            </a:r>
            <a:r>
              <a:rPr lang="en-US" sz="7600" strike="noStrike" u="none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M</a:t>
            </a:r>
            <a:r>
              <a:rPr lang="en-US" sz="7600" strike="noStrike" u="none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e</a:t>
            </a:r>
            <a:r>
              <a:rPr lang="en-US" sz="7600" strike="noStrike" u="none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trics</a:t>
            </a:r>
          </a:p>
          <a:p>
            <a:pPr algn="l" marL="0" indent="0" lvl="0">
              <a:lnSpc>
                <a:spcPts val="836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374287"/>
            <a:ext cx="4371095" cy="1299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58"/>
              </a:lnSpc>
            </a:pPr>
            <a:r>
              <a:rPr lang="en-US" b="true" sz="2470">
                <a:solidFill>
                  <a:srgbClr val="FEFBF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ARIMA SHOWED STRONG PREDICTION ACCURACY WITH STABLE TRENDS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85994" y="6234218"/>
            <a:ext cx="4371095" cy="861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58"/>
              </a:lnSpc>
            </a:pPr>
            <a:r>
              <a:rPr lang="en-US" b="true" sz="2470">
                <a:solidFill>
                  <a:srgbClr val="FEFBF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DETECTED 5+ ANOMALIES POST-</a:t>
            </a:r>
            <a:r>
              <a:rPr lang="en-US" b="true" sz="2470">
                <a:solidFill>
                  <a:srgbClr val="FEFBF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MARCH 2025 DIP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42515" y="7610869"/>
            <a:ext cx="4371095" cy="1299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58"/>
              </a:lnSpc>
            </a:pPr>
            <a:r>
              <a:rPr lang="en-US" b="true" sz="2470">
                <a:solidFill>
                  <a:srgbClr val="FEFBF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DATA W</a:t>
            </a:r>
            <a:r>
              <a:rPr lang="en-US" b="true" sz="2470">
                <a:solidFill>
                  <a:srgbClr val="FEFBF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AS STORED AND LOADED FROM S3 VIA S3FS INTERFACE</a:t>
            </a:r>
          </a:p>
        </p:txBody>
      </p:sp>
      <p:grpSp>
        <p:nvGrpSpPr>
          <p:cNvPr name="Group 11" id="11"/>
          <p:cNvGrpSpPr/>
          <p:nvPr/>
        </p:nvGrpSpPr>
        <p:grpSpPr>
          <a:xfrm rot="-10800000">
            <a:off x="0" y="0"/>
            <a:ext cx="374904" cy="10287000"/>
            <a:chOff x="0" y="0"/>
            <a:chExt cx="98740" cy="27093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8740" cy="2709333"/>
            </a:xfrm>
            <a:custGeom>
              <a:avLst/>
              <a:gdLst/>
              <a:ahLst/>
              <a:cxnLst/>
              <a:rect r="r" b="b" t="t" l="l"/>
              <a:pathLst>
                <a:path h="2709333" w="98740">
                  <a:moveTo>
                    <a:pt x="0" y="0"/>
                  </a:moveTo>
                  <a:lnTo>
                    <a:pt x="98740" y="0"/>
                  </a:lnTo>
                  <a:lnTo>
                    <a:pt x="9874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F03B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98740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201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47491" y="1312008"/>
            <a:ext cx="14289704" cy="2263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Co</a:t>
            </a:r>
            <a:r>
              <a:rPr lang="en-US" sz="8000" strike="noStrike" u="none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n</a:t>
            </a:r>
            <a:r>
              <a:rPr lang="en-US" sz="8000" strike="noStrike" u="none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clu</a:t>
            </a:r>
            <a:r>
              <a:rPr lang="en-US" sz="8000" strike="noStrike" u="none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sio</a:t>
            </a:r>
            <a:r>
              <a:rPr lang="en-US" sz="8000" strike="noStrike" u="none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n</a:t>
            </a:r>
            <a:r>
              <a:rPr lang="en-US" sz="8000" strike="noStrike" u="none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 </a:t>
            </a:r>
            <a:r>
              <a:rPr lang="en-US" sz="8000" strike="noStrike" u="none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&amp;</a:t>
            </a:r>
            <a:r>
              <a:rPr lang="en-US" sz="8000" strike="noStrike" u="none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 </a:t>
            </a:r>
            <a:r>
              <a:rPr lang="en-US" sz="8000" strike="noStrike" u="none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Futu</a:t>
            </a:r>
            <a:r>
              <a:rPr lang="en-US" sz="8000" strike="noStrike" u="none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re </a:t>
            </a:r>
            <a:r>
              <a:rPr lang="en-US" sz="8000" strike="noStrike" u="none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Work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050804" y="4630563"/>
            <a:ext cx="3699996" cy="1253628"/>
            <a:chOff x="0" y="0"/>
            <a:chExt cx="4933328" cy="1671504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723577"/>
              <a:ext cx="4933328" cy="9479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FEFBF8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</a:t>
              </a:r>
              <a:r>
                <a:rPr lang="en-US" sz="2099">
                  <a:solidFill>
                    <a:srgbClr val="FEFBF8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ummarized key patterns and forecast behavior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57150"/>
              <a:ext cx="4933328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FEFB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INSIGHTS 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294002" y="4630563"/>
            <a:ext cx="3699996" cy="1617911"/>
            <a:chOff x="0" y="0"/>
            <a:chExt cx="4933328" cy="215721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723577"/>
              <a:ext cx="4933328" cy="14336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0" indent="-226695" lvl="1">
                <a:lnSpc>
                  <a:spcPts val="2939"/>
                </a:lnSpc>
                <a:buFont typeface="Arial"/>
                <a:buChar char="•"/>
              </a:pPr>
              <a:r>
                <a:rPr lang="en-US" sz="2099">
                  <a:solidFill>
                    <a:srgbClr val="FEFBF8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D</a:t>
              </a:r>
              <a:r>
                <a:rPr lang="en-US" sz="2099">
                  <a:solidFill>
                    <a:srgbClr val="FEFBF8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ashboard offers real-time monitoring</a:t>
              </a:r>
            </a:p>
            <a:p>
              <a:pPr algn="l" marL="0" indent="0" lvl="0">
                <a:lnSpc>
                  <a:spcPts val="2939"/>
                </a:lnSpc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57150"/>
              <a:ext cx="4933328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FEFB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FEATURES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537200" y="4630563"/>
            <a:ext cx="3699996" cy="1617911"/>
            <a:chOff x="0" y="0"/>
            <a:chExt cx="4933328" cy="2157215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723577"/>
              <a:ext cx="4933328" cy="14336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0" indent="-226695" lvl="1">
                <a:lnSpc>
                  <a:spcPts val="2939"/>
                </a:lnSpc>
                <a:buFont typeface="Arial"/>
                <a:buChar char="•"/>
              </a:pPr>
              <a:r>
                <a:rPr lang="en-US" sz="2099">
                  <a:solidFill>
                    <a:srgbClr val="FEFBF8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F</a:t>
              </a:r>
              <a:r>
                <a:rPr lang="en-US" sz="2099">
                  <a:solidFill>
                    <a:srgbClr val="FEFBF8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uture work: add more crypto support, use LSTM</a:t>
              </a:r>
            </a:p>
            <a:p>
              <a:pPr algn="l" marL="0" indent="0" lvl="0">
                <a:lnSpc>
                  <a:spcPts val="2939"/>
                </a:lnSpc>
              </a:pP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57150"/>
              <a:ext cx="4933328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600">
                  <a:solidFill>
                    <a:srgbClr val="FEFBF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ENHANCEMENTS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90895" y="8749333"/>
            <a:ext cx="17504158" cy="1251282"/>
            <a:chOff x="0" y="0"/>
            <a:chExt cx="23338877" cy="166837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253924" cy="1668376"/>
            </a:xfrm>
            <a:custGeom>
              <a:avLst/>
              <a:gdLst/>
              <a:ahLst/>
              <a:cxnLst/>
              <a:rect r="r" b="b" t="t" l="l"/>
              <a:pathLst>
                <a:path h="1668376" w="3253924">
                  <a:moveTo>
                    <a:pt x="0" y="0"/>
                  </a:moveTo>
                  <a:lnTo>
                    <a:pt x="3253924" y="0"/>
                  </a:lnTo>
                  <a:lnTo>
                    <a:pt x="3253924" y="1668376"/>
                  </a:lnTo>
                  <a:lnTo>
                    <a:pt x="0" y="1668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694984" y="0"/>
              <a:ext cx="3253924" cy="1668376"/>
            </a:xfrm>
            <a:custGeom>
              <a:avLst/>
              <a:gdLst/>
              <a:ahLst/>
              <a:cxnLst/>
              <a:rect r="r" b="b" t="t" l="l"/>
              <a:pathLst>
                <a:path h="1668376" w="3253924">
                  <a:moveTo>
                    <a:pt x="0" y="0"/>
                  </a:moveTo>
                  <a:lnTo>
                    <a:pt x="3253925" y="0"/>
                  </a:lnTo>
                  <a:lnTo>
                    <a:pt x="3253925" y="1668376"/>
                  </a:lnTo>
                  <a:lnTo>
                    <a:pt x="0" y="1668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3389968" y="0"/>
              <a:ext cx="3253924" cy="1668376"/>
            </a:xfrm>
            <a:custGeom>
              <a:avLst/>
              <a:gdLst/>
              <a:ahLst/>
              <a:cxnLst/>
              <a:rect r="r" b="b" t="t" l="l"/>
              <a:pathLst>
                <a:path h="1668376" w="3253924">
                  <a:moveTo>
                    <a:pt x="0" y="0"/>
                  </a:moveTo>
                  <a:lnTo>
                    <a:pt x="3253925" y="0"/>
                  </a:lnTo>
                  <a:lnTo>
                    <a:pt x="3253925" y="1668376"/>
                  </a:lnTo>
                  <a:lnTo>
                    <a:pt x="0" y="1668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346581" y="0"/>
              <a:ext cx="3253924" cy="1668376"/>
            </a:xfrm>
            <a:custGeom>
              <a:avLst/>
              <a:gdLst/>
              <a:ahLst/>
              <a:cxnLst/>
              <a:rect r="r" b="b" t="t" l="l"/>
              <a:pathLst>
                <a:path h="1668376" w="3253924">
                  <a:moveTo>
                    <a:pt x="0" y="0"/>
                  </a:moveTo>
                  <a:lnTo>
                    <a:pt x="3253925" y="0"/>
                  </a:lnTo>
                  <a:lnTo>
                    <a:pt x="3253925" y="1668376"/>
                  </a:lnTo>
                  <a:lnTo>
                    <a:pt x="0" y="1668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0041565" y="0"/>
              <a:ext cx="3253924" cy="1668376"/>
            </a:xfrm>
            <a:custGeom>
              <a:avLst/>
              <a:gdLst/>
              <a:ahLst/>
              <a:cxnLst/>
              <a:rect r="r" b="b" t="t" l="l"/>
              <a:pathLst>
                <a:path h="1668376" w="3253924">
                  <a:moveTo>
                    <a:pt x="0" y="0"/>
                  </a:moveTo>
                  <a:lnTo>
                    <a:pt x="3253925" y="0"/>
                  </a:lnTo>
                  <a:lnTo>
                    <a:pt x="3253925" y="1668376"/>
                  </a:lnTo>
                  <a:lnTo>
                    <a:pt x="0" y="1668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6736550" y="0"/>
              <a:ext cx="3253924" cy="1668376"/>
            </a:xfrm>
            <a:custGeom>
              <a:avLst/>
              <a:gdLst/>
              <a:ahLst/>
              <a:cxnLst/>
              <a:rect r="r" b="b" t="t" l="l"/>
              <a:pathLst>
                <a:path h="1668376" w="3253924">
                  <a:moveTo>
                    <a:pt x="0" y="0"/>
                  </a:moveTo>
                  <a:lnTo>
                    <a:pt x="3253924" y="0"/>
                  </a:lnTo>
                  <a:lnTo>
                    <a:pt x="3253924" y="1668376"/>
                  </a:lnTo>
                  <a:lnTo>
                    <a:pt x="0" y="1668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0084953" y="0"/>
              <a:ext cx="3253924" cy="1668376"/>
            </a:xfrm>
            <a:custGeom>
              <a:avLst/>
              <a:gdLst/>
              <a:ahLst/>
              <a:cxnLst/>
              <a:rect r="r" b="b" t="t" l="l"/>
              <a:pathLst>
                <a:path h="1668376" w="3253924">
                  <a:moveTo>
                    <a:pt x="0" y="0"/>
                  </a:moveTo>
                  <a:lnTo>
                    <a:pt x="3253924" y="0"/>
                  </a:lnTo>
                  <a:lnTo>
                    <a:pt x="3253924" y="1668376"/>
                  </a:lnTo>
                  <a:lnTo>
                    <a:pt x="0" y="1668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5400000">
            <a:off x="8975598" y="-8975598"/>
            <a:ext cx="374904" cy="18326100"/>
            <a:chOff x="0" y="0"/>
            <a:chExt cx="98740" cy="482662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8740" cy="4826627"/>
            </a:xfrm>
            <a:custGeom>
              <a:avLst/>
              <a:gdLst/>
              <a:ahLst/>
              <a:cxnLst/>
              <a:rect r="r" b="b" t="t" l="l"/>
              <a:pathLst>
                <a:path h="4826627" w="98740">
                  <a:moveTo>
                    <a:pt x="0" y="0"/>
                  </a:moveTo>
                  <a:lnTo>
                    <a:pt x="98740" y="0"/>
                  </a:lnTo>
                  <a:lnTo>
                    <a:pt x="98740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250C58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8740" cy="4874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201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1921" y="9035718"/>
            <a:ext cx="17504158" cy="1251282"/>
            <a:chOff x="0" y="0"/>
            <a:chExt cx="23338877" cy="16683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53924" cy="1668376"/>
            </a:xfrm>
            <a:custGeom>
              <a:avLst/>
              <a:gdLst/>
              <a:ahLst/>
              <a:cxnLst/>
              <a:rect r="r" b="b" t="t" l="l"/>
              <a:pathLst>
                <a:path h="1668376" w="3253924">
                  <a:moveTo>
                    <a:pt x="0" y="0"/>
                  </a:moveTo>
                  <a:lnTo>
                    <a:pt x="3253924" y="0"/>
                  </a:lnTo>
                  <a:lnTo>
                    <a:pt x="3253924" y="1668376"/>
                  </a:lnTo>
                  <a:lnTo>
                    <a:pt x="0" y="1668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694984" y="0"/>
              <a:ext cx="3253924" cy="1668376"/>
            </a:xfrm>
            <a:custGeom>
              <a:avLst/>
              <a:gdLst/>
              <a:ahLst/>
              <a:cxnLst/>
              <a:rect r="r" b="b" t="t" l="l"/>
              <a:pathLst>
                <a:path h="1668376" w="3253924">
                  <a:moveTo>
                    <a:pt x="0" y="0"/>
                  </a:moveTo>
                  <a:lnTo>
                    <a:pt x="3253925" y="0"/>
                  </a:lnTo>
                  <a:lnTo>
                    <a:pt x="3253925" y="1668376"/>
                  </a:lnTo>
                  <a:lnTo>
                    <a:pt x="0" y="1668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389968" y="0"/>
              <a:ext cx="3253924" cy="1668376"/>
            </a:xfrm>
            <a:custGeom>
              <a:avLst/>
              <a:gdLst/>
              <a:ahLst/>
              <a:cxnLst/>
              <a:rect r="r" b="b" t="t" l="l"/>
              <a:pathLst>
                <a:path h="1668376" w="3253924">
                  <a:moveTo>
                    <a:pt x="0" y="0"/>
                  </a:moveTo>
                  <a:lnTo>
                    <a:pt x="3253925" y="0"/>
                  </a:lnTo>
                  <a:lnTo>
                    <a:pt x="3253925" y="1668376"/>
                  </a:lnTo>
                  <a:lnTo>
                    <a:pt x="0" y="1668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3346581" y="0"/>
              <a:ext cx="3253924" cy="1668376"/>
            </a:xfrm>
            <a:custGeom>
              <a:avLst/>
              <a:gdLst/>
              <a:ahLst/>
              <a:cxnLst/>
              <a:rect r="r" b="b" t="t" l="l"/>
              <a:pathLst>
                <a:path h="1668376" w="3253924">
                  <a:moveTo>
                    <a:pt x="0" y="0"/>
                  </a:moveTo>
                  <a:lnTo>
                    <a:pt x="3253925" y="0"/>
                  </a:lnTo>
                  <a:lnTo>
                    <a:pt x="3253925" y="1668376"/>
                  </a:lnTo>
                  <a:lnTo>
                    <a:pt x="0" y="1668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0041565" y="0"/>
              <a:ext cx="3253924" cy="1668376"/>
            </a:xfrm>
            <a:custGeom>
              <a:avLst/>
              <a:gdLst/>
              <a:ahLst/>
              <a:cxnLst/>
              <a:rect r="r" b="b" t="t" l="l"/>
              <a:pathLst>
                <a:path h="1668376" w="3253924">
                  <a:moveTo>
                    <a:pt x="0" y="0"/>
                  </a:moveTo>
                  <a:lnTo>
                    <a:pt x="3253925" y="0"/>
                  </a:lnTo>
                  <a:lnTo>
                    <a:pt x="3253925" y="1668376"/>
                  </a:lnTo>
                  <a:lnTo>
                    <a:pt x="0" y="1668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6736550" y="0"/>
              <a:ext cx="3253924" cy="1668376"/>
            </a:xfrm>
            <a:custGeom>
              <a:avLst/>
              <a:gdLst/>
              <a:ahLst/>
              <a:cxnLst/>
              <a:rect r="r" b="b" t="t" l="l"/>
              <a:pathLst>
                <a:path h="1668376" w="3253924">
                  <a:moveTo>
                    <a:pt x="0" y="0"/>
                  </a:moveTo>
                  <a:lnTo>
                    <a:pt x="3253924" y="0"/>
                  </a:lnTo>
                  <a:lnTo>
                    <a:pt x="3253924" y="1668376"/>
                  </a:lnTo>
                  <a:lnTo>
                    <a:pt x="0" y="1668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0084953" y="0"/>
              <a:ext cx="3253924" cy="1668376"/>
            </a:xfrm>
            <a:custGeom>
              <a:avLst/>
              <a:gdLst/>
              <a:ahLst/>
              <a:cxnLst/>
              <a:rect r="r" b="b" t="t" l="l"/>
              <a:pathLst>
                <a:path h="1668376" w="3253924">
                  <a:moveTo>
                    <a:pt x="0" y="0"/>
                  </a:moveTo>
                  <a:lnTo>
                    <a:pt x="3253924" y="0"/>
                  </a:lnTo>
                  <a:lnTo>
                    <a:pt x="3253924" y="1668376"/>
                  </a:lnTo>
                  <a:lnTo>
                    <a:pt x="0" y="1668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8975598" y="-8975598"/>
            <a:ext cx="374904" cy="18326100"/>
            <a:chOff x="0" y="0"/>
            <a:chExt cx="98740" cy="48266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8740" cy="4826627"/>
            </a:xfrm>
            <a:custGeom>
              <a:avLst/>
              <a:gdLst/>
              <a:ahLst/>
              <a:cxnLst/>
              <a:rect r="r" b="b" t="t" l="l"/>
              <a:pathLst>
                <a:path h="4826627" w="98740">
                  <a:moveTo>
                    <a:pt x="0" y="0"/>
                  </a:moveTo>
                  <a:lnTo>
                    <a:pt x="98740" y="0"/>
                  </a:lnTo>
                  <a:lnTo>
                    <a:pt x="98740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250C5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98740" cy="4874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3945727" y="3934409"/>
            <a:ext cx="9951839" cy="6352591"/>
          </a:xfrm>
          <a:custGeom>
            <a:avLst/>
            <a:gdLst/>
            <a:ahLst/>
            <a:cxnLst/>
            <a:rect r="r" b="b" t="t" l="l"/>
            <a:pathLst>
              <a:path h="6352591" w="9951839">
                <a:moveTo>
                  <a:pt x="0" y="0"/>
                </a:moveTo>
                <a:lnTo>
                  <a:pt x="9951839" y="0"/>
                </a:lnTo>
                <a:lnTo>
                  <a:pt x="9951839" y="6352591"/>
                </a:lnTo>
                <a:lnTo>
                  <a:pt x="0" y="63525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25409" y="776737"/>
            <a:ext cx="5148956" cy="3537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6930"/>
              </a:lnSpc>
              <a:spcBef>
                <a:spcPct val="0"/>
              </a:spcBef>
            </a:pPr>
            <a:r>
              <a:rPr lang="en-US" sz="6300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Bitcoin Intelligenc</a:t>
            </a:r>
            <a:r>
              <a:rPr lang="en-US" sz="6300" strike="noStrike" u="none">
                <a:solidFill>
                  <a:srgbClr val="FEFBF8"/>
                </a:solidFill>
                <a:latin typeface="Carollo Playscript"/>
                <a:ea typeface="Carollo Playscript"/>
                <a:cs typeface="Carollo Playscript"/>
                <a:sym typeface="Carollo Playscript"/>
              </a:rPr>
              <a:t>e Dashboard</a:t>
            </a:r>
          </a:p>
          <a:p>
            <a:pPr algn="just" marL="0" indent="0" lvl="0">
              <a:lnSpc>
                <a:spcPts val="6930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8599014" y="1211527"/>
            <a:ext cx="811872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</a:pPr>
            <a:r>
              <a:rPr lang="en-US" b="true" sz="2000">
                <a:solidFill>
                  <a:srgbClr val="FEFBF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CR</a:t>
            </a:r>
            <a:r>
              <a:rPr lang="en-US" b="true" sz="2000">
                <a:solidFill>
                  <a:srgbClr val="FEFBF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EATED USING FLASK + PLOTLY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0576" y="1764789"/>
            <a:ext cx="8118724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</a:pPr>
            <a:r>
              <a:rPr lang="en-US" b="true" sz="2000">
                <a:solidFill>
                  <a:srgbClr val="FEFBF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FEATURES: PRICE TREND, </a:t>
            </a:r>
            <a:r>
              <a:rPr lang="en-US" b="true" sz="2000">
                <a:solidFill>
                  <a:srgbClr val="FEFBF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ANOMALIES, MOVING AVERAGES, VOLATILITY, RETURNS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921647" y="3004135"/>
            <a:ext cx="811872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</a:pPr>
            <a:r>
              <a:rPr lang="en-US" b="true" sz="2000">
                <a:solidFill>
                  <a:srgbClr val="FEFBF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REFRE</a:t>
            </a:r>
            <a:r>
              <a:rPr lang="en-US" b="true" sz="2000">
                <a:solidFill>
                  <a:srgbClr val="FEFBF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SHABLE AND INTERACTIVE INTERFACE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201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8975598" y="-8975598"/>
            <a:ext cx="374904" cy="18326100"/>
            <a:chOff x="0" y="0"/>
            <a:chExt cx="98740" cy="48266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8740" cy="4826627"/>
            </a:xfrm>
            <a:custGeom>
              <a:avLst/>
              <a:gdLst/>
              <a:ahLst/>
              <a:cxnLst/>
              <a:rect r="r" b="b" t="t" l="l"/>
              <a:pathLst>
                <a:path h="4826627" w="98740">
                  <a:moveTo>
                    <a:pt x="0" y="0"/>
                  </a:moveTo>
                  <a:lnTo>
                    <a:pt x="98740" y="0"/>
                  </a:lnTo>
                  <a:lnTo>
                    <a:pt x="98740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18081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98740" cy="4874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rot="0">
            <a:off x="0" y="0"/>
            <a:ext cx="9525" cy="10287000"/>
          </a:xfrm>
          <a:prstGeom prst="rect">
            <a:avLst/>
          </a:prstGeom>
          <a:solidFill>
            <a:srgbClr val="250C58"/>
          </a:solidFill>
        </p:spPr>
      </p:sp>
      <p:sp>
        <p:nvSpPr>
          <p:cNvPr name="Freeform 6" id="6"/>
          <p:cNvSpPr/>
          <p:nvPr/>
        </p:nvSpPr>
        <p:spPr>
          <a:xfrm flipH="false" flipV="false" rot="0">
            <a:off x="3500723" y="508398"/>
            <a:ext cx="5939645" cy="4883600"/>
          </a:xfrm>
          <a:custGeom>
            <a:avLst/>
            <a:gdLst/>
            <a:ahLst/>
            <a:cxnLst/>
            <a:rect r="r" b="b" t="t" l="l"/>
            <a:pathLst>
              <a:path h="4883600" w="5939645">
                <a:moveTo>
                  <a:pt x="0" y="0"/>
                </a:moveTo>
                <a:lnTo>
                  <a:pt x="5939646" y="0"/>
                </a:lnTo>
                <a:lnTo>
                  <a:pt x="5939646" y="4883600"/>
                </a:lnTo>
                <a:lnTo>
                  <a:pt x="0" y="488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61216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395153" y="5644171"/>
            <a:ext cx="6911218" cy="4371345"/>
          </a:xfrm>
          <a:custGeom>
            <a:avLst/>
            <a:gdLst/>
            <a:ahLst/>
            <a:cxnLst/>
            <a:rect r="r" b="b" t="t" l="l"/>
            <a:pathLst>
              <a:path h="4371345" w="6911218">
                <a:moveTo>
                  <a:pt x="0" y="0"/>
                </a:moveTo>
                <a:lnTo>
                  <a:pt x="6911218" y="0"/>
                </a:lnTo>
                <a:lnTo>
                  <a:pt x="6911218" y="4371345"/>
                </a:lnTo>
                <a:lnTo>
                  <a:pt x="0" y="43713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837738" y="508398"/>
            <a:ext cx="7773292" cy="4961951"/>
          </a:xfrm>
          <a:custGeom>
            <a:avLst/>
            <a:gdLst/>
            <a:ahLst/>
            <a:cxnLst/>
            <a:rect r="r" b="b" t="t" l="l"/>
            <a:pathLst>
              <a:path h="4961951" w="7773292">
                <a:moveTo>
                  <a:pt x="0" y="0"/>
                </a:moveTo>
                <a:lnTo>
                  <a:pt x="7773292" y="0"/>
                </a:lnTo>
                <a:lnTo>
                  <a:pt x="7773292" y="4961951"/>
                </a:lnTo>
                <a:lnTo>
                  <a:pt x="0" y="49619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440369" y="5606550"/>
            <a:ext cx="8568031" cy="4408966"/>
          </a:xfrm>
          <a:custGeom>
            <a:avLst/>
            <a:gdLst/>
            <a:ahLst/>
            <a:cxnLst/>
            <a:rect r="r" b="b" t="t" l="l"/>
            <a:pathLst>
              <a:path h="4408966" w="8568031">
                <a:moveTo>
                  <a:pt x="0" y="0"/>
                </a:moveTo>
                <a:lnTo>
                  <a:pt x="8568030" y="0"/>
                </a:lnTo>
                <a:lnTo>
                  <a:pt x="8568030" y="4408966"/>
                </a:lnTo>
                <a:lnTo>
                  <a:pt x="0" y="44089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321299" y="739488"/>
            <a:ext cx="1939857" cy="8604255"/>
            <a:chOff x="0" y="0"/>
            <a:chExt cx="2586477" cy="1147234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57150"/>
              <a:ext cx="2586477" cy="71479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050"/>
                </a:lnSpc>
                <a:spcBef>
                  <a:spcPct val="0"/>
                </a:spcBef>
              </a:pPr>
              <a:r>
                <a:rPr lang="en-US" sz="5500">
                  <a:solidFill>
                    <a:srgbClr val="FEFBF8"/>
                  </a:solidFill>
                  <a:latin typeface="Carollo Playscript"/>
                  <a:ea typeface="Carollo Playscript"/>
                  <a:cs typeface="Carollo Playscript"/>
                  <a:sym typeface="Carollo Playscript"/>
                </a:rPr>
                <a:t>L</a:t>
              </a:r>
              <a:r>
                <a:rPr lang="en-US" sz="5500" strike="noStrike" u="none">
                  <a:solidFill>
                    <a:srgbClr val="FEFBF8"/>
                  </a:solidFill>
                  <a:latin typeface="Carollo Playscript"/>
                  <a:ea typeface="Carollo Playscript"/>
                  <a:cs typeface="Carollo Playscript"/>
                  <a:sym typeface="Carollo Playscript"/>
                </a:rPr>
                <a:t>i</a:t>
              </a:r>
              <a:r>
                <a:rPr lang="en-US" sz="5500" strike="noStrike" u="none">
                  <a:solidFill>
                    <a:srgbClr val="FEFBF8"/>
                  </a:solidFill>
                  <a:latin typeface="Carollo Playscript"/>
                  <a:ea typeface="Carollo Playscript"/>
                  <a:cs typeface="Carollo Playscript"/>
                  <a:sym typeface="Carollo Playscript"/>
                </a:rPr>
                <a:t>v</a:t>
              </a:r>
              <a:r>
                <a:rPr lang="en-US" sz="5500" strike="noStrike" u="none">
                  <a:solidFill>
                    <a:srgbClr val="FEFBF8"/>
                  </a:solidFill>
                  <a:latin typeface="Carollo Playscript"/>
                  <a:ea typeface="Carollo Playscript"/>
                  <a:cs typeface="Carollo Playscript"/>
                  <a:sym typeface="Carollo Playscript"/>
                </a:rPr>
                <a:t>e </a:t>
              </a:r>
              <a:r>
                <a:rPr lang="en-US" sz="5500" strike="noStrike" u="none">
                  <a:solidFill>
                    <a:srgbClr val="FEFBF8"/>
                  </a:solidFill>
                  <a:latin typeface="Carollo Playscript"/>
                  <a:ea typeface="Carollo Playscript"/>
                  <a:cs typeface="Carollo Playscript"/>
                  <a:sym typeface="Carollo Playscript"/>
                </a:rPr>
                <a:t>Dashboa</a:t>
              </a:r>
              <a:r>
                <a:rPr lang="en-US" sz="5500" strike="noStrike" u="none">
                  <a:solidFill>
                    <a:srgbClr val="FEFBF8"/>
                  </a:solidFill>
                  <a:latin typeface="Carollo Playscript"/>
                  <a:ea typeface="Carollo Playscript"/>
                  <a:cs typeface="Carollo Playscript"/>
                  <a:sym typeface="Carollo Playscript"/>
                </a:rPr>
                <a:t>rd</a:t>
              </a:r>
              <a:r>
                <a:rPr lang="en-US" sz="5500" strike="noStrike" u="none">
                  <a:solidFill>
                    <a:srgbClr val="FEFBF8"/>
                  </a:solidFill>
                  <a:latin typeface="Carollo Playscript"/>
                  <a:ea typeface="Carollo Playscript"/>
                  <a:cs typeface="Carollo Playscript"/>
                  <a:sym typeface="Carollo Playscript"/>
                </a:rPr>
                <a:t> Vi</a:t>
              </a:r>
              <a:r>
                <a:rPr lang="en-US" sz="5500" strike="noStrike" u="none">
                  <a:solidFill>
                    <a:srgbClr val="FEFBF8"/>
                  </a:solidFill>
                  <a:latin typeface="Carollo Playscript"/>
                  <a:ea typeface="Carollo Playscript"/>
                  <a:cs typeface="Carollo Playscript"/>
                  <a:sym typeface="Carollo Playscript"/>
                </a:rPr>
                <a:t>s</a:t>
              </a:r>
              <a:r>
                <a:rPr lang="en-US" sz="5500" strike="noStrike" u="none">
                  <a:solidFill>
                    <a:srgbClr val="FEFBF8"/>
                  </a:solidFill>
                  <a:latin typeface="Carollo Playscript"/>
                  <a:ea typeface="Carollo Playscript"/>
                  <a:cs typeface="Carollo Playscript"/>
                  <a:sym typeface="Carollo Playscript"/>
                </a:rPr>
                <a:t>uals</a:t>
              </a:r>
            </a:p>
            <a:p>
              <a:pPr algn="l" marL="0" indent="0" lvl="0">
                <a:lnSpc>
                  <a:spcPts val="6050"/>
                </a:lnSpc>
                <a:spcBef>
                  <a:spcPct val="0"/>
                </a:spcBef>
              </a:pP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7432471"/>
              <a:ext cx="2586477" cy="40398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45443" indent="-172721" lvl="1">
                <a:lnSpc>
                  <a:spcPts val="24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600" spc="-32">
                  <a:solidFill>
                    <a:srgbClr val="FEFBF8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SMA</a:t>
              </a:r>
              <a:r>
                <a:rPr lang="en-US" sz="1600" spc="-32">
                  <a:solidFill>
                    <a:srgbClr val="FEFBF8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&amp; EMA comparisons, anomaly detection</a:t>
              </a:r>
            </a:p>
            <a:p>
              <a:pPr algn="l" marL="345443" indent="-172721" lvl="1">
                <a:lnSpc>
                  <a:spcPts val="24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600" spc="-32">
                  <a:solidFill>
                    <a:srgbClr val="FEFBF8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Forecast table and plot with confidence bounds</a:t>
              </a:r>
            </a:p>
            <a:p>
              <a:pPr algn="l" marL="345443" indent="-172721" lvl="1">
                <a:lnSpc>
                  <a:spcPts val="24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600" spc="-32">
                  <a:solidFill>
                    <a:srgbClr val="FEFBF8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Let me now walk you through the live demo...</a:t>
              </a:r>
            </a:p>
            <a:p>
              <a:pPr algn="l" marL="0" indent="0" lvl="0">
                <a:lnSpc>
                  <a:spcPts val="240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Time Series Analysis</dc:description>
  <dc:identifier>DAGnvWLEwa0</dc:identifier>
  <dcterms:modified xsi:type="dcterms:W3CDTF">2011-08-01T06:04:30Z</dcterms:modified>
  <cp:revision>1</cp:revision>
  <dc:title>Presentation - Time Series Analysis</dc:title>
</cp:coreProperties>
</file>